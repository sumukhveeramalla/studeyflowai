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ptos" charset="1" panose="020B0004020202020204"/>
      <p:regular r:id="rId22"/>
    </p:embeddedFont>
    <p:embeddedFont>
      <p:font typeface="Aptos Bold" charset="1" panose="020B0004020202020204"/>
      <p:regular r:id="rId23"/>
    </p:embeddedFont>
    <p:embeddedFont>
      <p:font typeface="Georgia Italics" charset="1" panose="02040502050405090303"/>
      <p:regular r:id="rId24"/>
    </p:embeddedFont>
    <p:embeddedFont>
      <p:font typeface="Georgia" charset="1" panose="0204050205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D72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9577" y="1143857"/>
            <a:ext cx="475873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Agentic AI Hackathon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577" y="1614764"/>
            <a:ext cx="8739492" cy="115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StudyFlow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9577" y="2996965"/>
            <a:ext cx="7778620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An adaptive academic planning assistant that helps students organize assignments, generate study plans, and recover when schedules change.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8137" y="4667088"/>
            <a:ext cx="2264912" cy="494167"/>
            <a:chOff x="0" y="0"/>
            <a:chExt cx="3019882" cy="6588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9933" cy="658876"/>
            </a:xfrm>
            <a:custGeom>
              <a:avLst/>
              <a:gdLst/>
              <a:ahLst/>
              <a:cxnLst/>
              <a:rect r="r" b="b" t="t" l="l"/>
              <a:pathLst>
                <a:path h="658876" w="3019933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910078" y="0"/>
                  </a:lnTo>
                  <a:cubicBezTo>
                    <a:pt x="2970784" y="0"/>
                    <a:pt x="3019933" y="49149"/>
                    <a:pt x="3019933" y="109855"/>
                  </a:cubicBezTo>
                  <a:lnTo>
                    <a:pt x="3019933" y="549021"/>
                  </a:lnTo>
                  <a:cubicBezTo>
                    <a:pt x="3019933" y="609727"/>
                    <a:pt x="2970784" y="658876"/>
                    <a:pt x="2910078" y="658876"/>
                  </a:cubicBezTo>
                  <a:lnTo>
                    <a:pt x="109855" y="658876"/>
                  </a:lnTo>
                  <a:cubicBezTo>
                    <a:pt x="49149" y="658876"/>
                    <a:pt x="0" y="609727"/>
                    <a:pt x="0" y="549021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89577" y="4795171"/>
            <a:ext cx="2082032" cy="26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Assignments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500314" y="4667088"/>
            <a:ext cx="1715843" cy="494167"/>
            <a:chOff x="0" y="0"/>
            <a:chExt cx="2287791" cy="6588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7778" cy="658876"/>
            </a:xfrm>
            <a:custGeom>
              <a:avLst/>
              <a:gdLst/>
              <a:ahLst/>
              <a:cxnLst/>
              <a:rect r="r" b="b" t="t" l="l"/>
              <a:pathLst>
                <a:path h="658876" w="2287778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177923" y="0"/>
                  </a:lnTo>
                  <a:cubicBezTo>
                    <a:pt x="2238629" y="0"/>
                    <a:pt x="2287778" y="49149"/>
                    <a:pt x="2287778" y="109855"/>
                  </a:cubicBezTo>
                  <a:lnTo>
                    <a:pt x="2287778" y="549021"/>
                  </a:lnTo>
                  <a:cubicBezTo>
                    <a:pt x="2287778" y="609727"/>
                    <a:pt x="2238629" y="658876"/>
                    <a:pt x="2177923" y="658876"/>
                  </a:cubicBezTo>
                  <a:lnTo>
                    <a:pt x="109855" y="658876"/>
                  </a:lnTo>
                  <a:cubicBezTo>
                    <a:pt x="49149" y="658876"/>
                    <a:pt x="0" y="609727"/>
                    <a:pt x="0" y="549021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591754" y="4795171"/>
            <a:ext cx="1532963" cy="26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5A44FF"/>
                </a:solidFill>
                <a:latin typeface="Aptos Bold"/>
                <a:ea typeface="Aptos Bold"/>
                <a:cs typeface="Aptos Bold"/>
                <a:sym typeface="Aptos Bold"/>
              </a:rPr>
              <a:t>Tasks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353421" y="4667088"/>
            <a:ext cx="2059010" cy="494167"/>
            <a:chOff x="0" y="0"/>
            <a:chExt cx="2745346" cy="6588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5359" cy="658876"/>
            </a:xfrm>
            <a:custGeom>
              <a:avLst/>
              <a:gdLst/>
              <a:ahLst/>
              <a:cxnLst/>
              <a:rect r="r" b="b" t="t" l="l"/>
              <a:pathLst>
                <a:path h="658876" w="2745359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635504" y="0"/>
                  </a:lnTo>
                  <a:cubicBezTo>
                    <a:pt x="2696210" y="0"/>
                    <a:pt x="2745359" y="49149"/>
                    <a:pt x="2745359" y="109855"/>
                  </a:cubicBezTo>
                  <a:lnTo>
                    <a:pt x="2745359" y="549021"/>
                  </a:lnTo>
                  <a:cubicBezTo>
                    <a:pt x="2745359" y="609727"/>
                    <a:pt x="2696210" y="658876"/>
                    <a:pt x="2635504" y="658876"/>
                  </a:cubicBezTo>
                  <a:lnTo>
                    <a:pt x="109855" y="658876"/>
                  </a:lnTo>
                  <a:cubicBezTo>
                    <a:pt x="49149" y="658876"/>
                    <a:pt x="0" y="609727"/>
                    <a:pt x="0" y="549021"/>
                  </a:cubicBezTo>
                  <a:close/>
                </a:path>
              </a:pathLst>
            </a:custGeom>
            <a:solidFill>
              <a:srgbClr val="EAFAF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444861" y="4795171"/>
            <a:ext cx="1876130" cy="26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2C55E"/>
                </a:solidFill>
                <a:latin typeface="Aptos Bold"/>
                <a:ea typeface="Aptos Bold"/>
                <a:cs typeface="Aptos Bold"/>
                <a:sym typeface="Aptos Bold"/>
              </a:rPr>
              <a:t>Scheduling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549696" y="4667088"/>
            <a:ext cx="2127647" cy="494167"/>
            <a:chOff x="0" y="0"/>
            <a:chExt cx="2836862" cy="6588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36926" cy="658876"/>
            </a:xfrm>
            <a:custGeom>
              <a:avLst/>
              <a:gdLst/>
              <a:ahLst/>
              <a:cxnLst/>
              <a:rect r="r" b="b" t="t" l="l"/>
              <a:pathLst>
                <a:path h="658876" w="2836926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727071" y="0"/>
                  </a:lnTo>
                  <a:cubicBezTo>
                    <a:pt x="2787777" y="0"/>
                    <a:pt x="2836926" y="49149"/>
                    <a:pt x="2836926" y="109855"/>
                  </a:cubicBezTo>
                  <a:lnTo>
                    <a:pt x="2836926" y="549021"/>
                  </a:lnTo>
                  <a:cubicBezTo>
                    <a:pt x="2836926" y="609727"/>
                    <a:pt x="2787777" y="658876"/>
                    <a:pt x="2727071" y="658876"/>
                  </a:cubicBezTo>
                  <a:lnTo>
                    <a:pt x="109855" y="658876"/>
                  </a:lnTo>
                  <a:cubicBezTo>
                    <a:pt x="49149" y="658876"/>
                    <a:pt x="0" y="609727"/>
                    <a:pt x="0" y="549021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641136" y="4795171"/>
            <a:ext cx="1944767" cy="26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Replanning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014795" y="2625547"/>
            <a:ext cx="7892863" cy="5261915"/>
            <a:chOff x="0" y="0"/>
            <a:chExt cx="10523817" cy="7015886"/>
          </a:xfrm>
        </p:grpSpPr>
        <p:sp>
          <p:nvSpPr>
            <p:cNvPr name="Freeform 26" id="26" descr="a_wide_clean_modern_ui_dashboard_mockup_in_a_lig.png"/>
            <p:cNvSpPr/>
            <p:nvPr/>
          </p:nvSpPr>
          <p:spPr>
            <a:xfrm flipH="false" flipV="false" rot="0">
              <a:off x="0" y="0"/>
              <a:ext cx="10523855" cy="7015861"/>
            </a:xfrm>
            <a:custGeom>
              <a:avLst/>
              <a:gdLst/>
              <a:ahLst/>
              <a:cxnLst/>
              <a:rect r="r" b="b" t="t" l="l"/>
              <a:pathLst>
                <a:path h="7015861" w="10523855">
                  <a:moveTo>
                    <a:pt x="0" y="0"/>
                  </a:moveTo>
                  <a:lnTo>
                    <a:pt x="10523855" y="0"/>
                  </a:lnTo>
                  <a:lnTo>
                    <a:pt x="10523855" y="7015861"/>
                  </a:lnTo>
                  <a:lnTo>
                    <a:pt x="0" y="7015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89577" y="7114984"/>
            <a:ext cx="544507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Plan smarter. Study better.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9577" y="8546763"/>
            <a:ext cx="3248797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Team StudyFlow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THE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Students do not just need reminders. They need a plan that stays useful when life changes.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3447445"/>
            <a:ext cx="16074561" cy="3034179"/>
            <a:chOff x="0" y="0"/>
            <a:chExt cx="21432749" cy="4045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32774" cy="4045585"/>
            </a:xfrm>
            <a:custGeom>
              <a:avLst/>
              <a:gdLst/>
              <a:ahLst/>
              <a:cxnLst/>
              <a:rect r="r" b="b" t="t" l="l"/>
              <a:pathLst>
                <a:path h="4045585" w="21432774">
                  <a:moveTo>
                    <a:pt x="0" y="674243"/>
                  </a:moveTo>
                  <a:cubicBezTo>
                    <a:pt x="0" y="301879"/>
                    <a:pt x="301879" y="0"/>
                    <a:pt x="674243" y="0"/>
                  </a:cubicBezTo>
                  <a:lnTo>
                    <a:pt x="20758531" y="0"/>
                  </a:lnTo>
                  <a:cubicBezTo>
                    <a:pt x="21130895" y="0"/>
                    <a:pt x="21432774" y="301879"/>
                    <a:pt x="21432774" y="674243"/>
                  </a:cubicBezTo>
                  <a:lnTo>
                    <a:pt x="21432774" y="3371342"/>
                  </a:lnTo>
                  <a:cubicBezTo>
                    <a:pt x="21432774" y="3743706"/>
                    <a:pt x="21130895" y="4045585"/>
                    <a:pt x="20758531" y="4045585"/>
                  </a:cubicBezTo>
                  <a:lnTo>
                    <a:pt x="674243" y="4045585"/>
                  </a:lnTo>
                  <a:cubicBezTo>
                    <a:pt x="301879" y="4045585"/>
                    <a:pt x="0" y="3743706"/>
                    <a:pt x="0" y="3371342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875911" y="3811048"/>
            <a:ext cx="14504718" cy="115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i="true">
                <a:solidFill>
                  <a:srgbClr val="101828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“ I know what is due. I just do not know when to do it, how long it will take, or how to recover when my day gets disrupted. 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9577" y="6786846"/>
            <a:ext cx="736681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This is the real academic planning problem we want to solve.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Academic planning breaks in three predictable ways.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0984" y="3123562"/>
            <a:ext cx="5230454" cy="2759640"/>
            <a:chOff x="0" y="0"/>
            <a:chExt cx="6973938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3951" cy="3679571"/>
            </a:xfrm>
            <a:custGeom>
              <a:avLst/>
              <a:gdLst/>
              <a:ahLst/>
              <a:cxnLst/>
              <a:rect r="r" b="b" t="t" l="l"/>
              <a:pathLst>
                <a:path h="3679571" w="697395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360668" y="0"/>
                  </a:lnTo>
                  <a:cubicBezTo>
                    <a:pt x="6699377" y="0"/>
                    <a:pt x="6973951" y="274574"/>
                    <a:pt x="6973951" y="613283"/>
                  </a:cubicBezTo>
                  <a:lnTo>
                    <a:pt x="6973951" y="3066288"/>
                  </a:lnTo>
                  <a:cubicBezTo>
                    <a:pt x="6973951" y="3404997"/>
                    <a:pt x="6699377" y="3679571"/>
                    <a:pt x="636066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36656" y="3315491"/>
            <a:ext cx="453911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Fragmented deadlines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656" y="3845404"/>
            <a:ext cx="4539110" cy="176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Assignments, exams, classes, and personal commitments live across different tools and become hard to manage.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3043" y="3123562"/>
            <a:ext cx="5230454" cy="2759640"/>
            <a:chOff x="0" y="0"/>
            <a:chExt cx="6973938" cy="36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3951" cy="3679571"/>
            </a:xfrm>
            <a:custGeom>
              <a:avLst/>
              <a:gdLst/>
              <a:ahLst/>
              <a:cxnLst/>
              <a:rect r="r" b="b" t="t" l="l"/>
              <a:pathLst>
                <a:path h="3679571" w="697395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360668" y="0"/>
                  </a:lnTo>
                  <a:cubicBezTo>
                    <a:pt x="6699377" y="0"/>
                    <a:pt x="6973951" y="274574"/>
                    <a:pt x="6973951" y="613283"/>
                  </a:cubicBezTo>
                  <a:lnTo>
                    <a:pt x="6973951" y="3066288"/>
                  </a:lnTo>
                  <a:cubicBezTo>
                    <a:pt x="6973951" y="3404997"/>
                    <a:pt x="6699377" y="3679571"/>
                    <a:pt x="636066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874445" y="3315491"/>
            <a:ext cx="453911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Planning overhead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58714" y="3845404"/>
            <a:ext cx="4539110" cy="176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Students must estimate effort, break down work, and choose priorities before they even begin studying.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933996" y="3123562"/>
            <a:ext cx="5230454" cy="2759640"/>
            <a:chOff x="0" y="0"/>
            <a:chExt cx="6973938" cy="3679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951" cy="3679571"/>
            </a:xfrm>
            <a:custGeom>
              <a:avLst/>
              <a:gdLst/>
              <a:ahLst/>
              <a:cxnLst/>
              <a:rect r="r" b="b" t="t" l="l"/>
              <a:pathLst>
                <a:path h="3679571" w="6973951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6360668" y="0"/>
                  </a:lnTo>
                  <a:cubicBezTo>
                    <a:pt x="6699377" y="0"/>
                    <a:pt x="6973951" y="274574"/>
                    <a:pt x="6973951" y="613283"/>
                  </a:cubicBezTo>
                  <a:lnTo>
                    <a:pt x="6973951" y="3066288"/>
                  </a:lnTo>
                  <a:cubicBezTo>
                    <a:pt x="6973951" y="3404997"/>
                    <a:pt x="6699377" y="3679571"/>
                    <a:pt x="6360668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280773" y="3315491"/>
            <a:ext cx="453911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Unexpected disruptions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80773" y="3845404"/>
            <a:ext cx="4539110" cy="176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A missed study block or a new meeting can make a carefully built plan obsolete.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65523" y="6513043"/>
            <a:ext cx="3445983" cy="1661503"/>
            <a:chOff x="0" y="0"/>
            <a:chExt cx="4594644" cy="22153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94606" cy="2215261"/>
            </a:xfrm>
            <a:custGeom>
              <a:avLst/>
              <a:gdLst/>
              <a:ahLst/>
              <a:cxnLst/>
              <a:rect r="r" b="b" t="t" l="l"/>
              <a:pathLst>
                <a:path h="2215261" w="4594606">
                  <a:moveTo>
                    <a:pt x="0" y="369189"/>
                  </a:moveTo>
                  <a:cubicBezTo>
                    <a:pt x="0" y="165354"/>
                    <a:pt x="165354" y="0"/>
                    <a:pt x="369189" y="0"/>
                  </a:cubicBezTo>
                  <a:lnTo>
                    <a:pt x="4225417" y="0"/>
                  </a:lnTo>
                  <a:cubicBezTo>
                    <a:pt x="4429379" y="0"/>
                    <a:pt x="4594606" y="165354"/>
                    <a:pt x="4594606" y="369189"/>
                  </a:cubicBezTo>
                  <a:lnTo>
                    <a:pt x="4594606" y="1846072"/>
                  </a:lnTo>
                  <a:cubicBezTo>
                    <a:pt x="4594606" y="2050034"/>
                    <a:pt x="4429252" y="2215261"/>
                    <a:pt x="4225417" y="2215261"/>
                  </a:cubicBezTo>
                  <a:lnTo>
                    <a:pt x="369189" y="2215261"/>
                  </a:lnTo>
                  <a:cubicBezTo>
                    <a:pt x="165354" y="2215388"/>
                    <a:pt x="0" y="2050034"/>
                    <a:pt x="0" y="1846072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738646" y="6812994"/>
            <a:ext cx="2699728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38646" y="7526788"/>
            <a:ext cx="269972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problem space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44861" y="6881632"/>
            <a:ext cx="1171958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A planner that cannot adapt creates more stress instead of reducing 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16884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THE S</a:t>
            </a: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Study</a:t>
            </a: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Flow AI turns academic responsibilities into an executable weekly plan.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9577" y="3587734"/>
            <a:ext cx="8053159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Students add their assignments, exams, and fixed commitments. StudyFlow AI breaks work into smaller tasks, creates study blocks, checks feasibility, and replans when something changes.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23123" y="2633566"/>
            <a:ext cx="7014924" cy="4406846"/>
            <a:chOff x="0" y="0"/>
            <a:chExt cx="9353232" cy="5875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53169" cy="5875782"/>
            </a:xfrm>
            <a:custGeom>
              <a:avLst/>
              <a:gdLst/>
              <a:ahLst/>
              <a:cxnLst/>
              <a:rect r="r" b="b" t="t" l="l"/>
              <a:pathLst>
                <a:path h="5875782" w="9353169">
                  <a:moveTo>
                    <a:pt x="0" y="979297"/>
                  </a:moveTo>
                  <a:cubicBezTo>
                    <a:pt x="0" y="438404"/>
                    <a:pt x="438404" y="0"/>
                    <a:pt x="979297" y="0"/>
                  </a:cubicBezTo>
                  <a:lnTo>
                    <a:pt x="8373872" y="0"/>
                  </a:lnTo>
                  <a:cubicBezTo>
                    <a:pt x="8914765" y="0"/>
                    <a:pt x="9353169" y="438404"/>
                    <a:pt x="9353169" y="979297"/>
                  </a:cubicBezTo>
                  <a:lnTo>
                    <a:pt x="9353169" y="4896485"/>
                  </a:lnTo>
                  <a:cubicBezTo>
                    <a:pt x="9353169" y="5437378"/>
                    <a:pt x="8914765" y="5875782"/>
                    <a:pt x="8373872" y="5875782"/>
                  </a:cubicBezTo>
                  <a:lnTo>
                    <a:pt x="979297" y="5875782"/>
                  </a:lnTo>
                  <a:cubicBezTo>
                    <a:pt x="438404" y="5875782"/>
                    <a:pt x="0" y="5437378"/>
                    <a:pt x="0" y="4896485"/>
                  </a:cubicBezTo>
                  <a:close/>
                </a:path>
              </a:pathLst>
            </a:custGeom>
            <a:solidFill>
              <a:srgbClr val="F3EEFF"/>
            </a:solidFill>
            <a:ln w="14299" cap="sq">
              <a:solidFill>
                <a:srgbClr val="32415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455116" y="2918803"/>
            <a:ext cx="201339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The output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55116" y="3967556"/>
            <a:ext cx="508807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802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A practical weekly plan </a:t>
            </a:r>
          </a:p>
          <a:p>
            <a:pPr algn="l">
              <a:lnSpc>
                <a:spcPts val="3363"/>
              </a:lnSpc>
            </a:pPr>
            <a:r>
              <a:rPr lang="en-US" sz="2802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not just an AI to-do list.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From academic chaos to a clear plan in three steps.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28258" y="3218631"/>
            <a:ext cx="4406846" cy="2759640"/>
            <a:chOff x="0" y="0"/>
            <a:chExt cx="5875795" cy="36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75782" cy="3679571"/>
            </a:xfrm>
            <a:custGeom>
              <a:avLst/>
              <a:gdLst/>
              <a:ahLst/>
              <a:cxnLst/>
              <a:rect r="r" b="b" t="t" l="l"/>
              <a:pathLst>
                <a:path h="3679571" w="5875782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5262499" y="0"/>
                  </a:lnTo>
                  <a:cubicBezTo>
                    <a:pt x="5601208" y="0"/>
                    <a:pt x="5875782" y="274574"/>
                    <a:pt x="5875782" y="613283"/>
                  </a:cubicBezTo>
                  <a:lnTo>
                    <a:pt x="5875782" y="3066288"/>
                  </a:lnTo>
                  <a:cubicBezTo>
                    <a:pt x="5875782" y="3404997"/>
                    <a:pt x="5601208" y="3679571"/>
                    <a:pt x="5262499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E8F0FF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01381" y="3596735"/>
            <a:ext cx="3523336" cy="37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1. Capture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1381" y="4273553"/>
            <a:ext cx="359197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Add assignments, exams, deadlines, classes, and other fixed events.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01239" y="3218631"/>
            <a:ext cx="4406846" cy="2759640"/>
            <a:chOff x="0" y="0"/>
            <a:chExt cx="5875795" cy="3679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75782" cy="3679571"/>
            </a:xfrm>
            <a:custGeom>
              <a:avLst/>
              <a:gdLst/>
              <a:ahLst/>
              <a:cxnLst/>
              <a:rect r="r" b="b" t="t" l="l"/>
              <a:pathLst>
                <a:path h="3679571" w="5875782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5262499" y="0"/>
                  </a:lnTo>
                  <a:cubicBezTo>
                    <a:pt x="5601208" y="0"/>
                    <a:pt x="5875782" y="274574"/>
                    <a:pt x="5875782" y="613283"/>
                  </a:cubicBezTo>
                  <a:lnTo>
                    <a:pt x="5875782" y="3066288"/>
                  </a:lnTo>
                  <a:cubicBezTo>
                    <a:pt x="5875782" y="3404997"/>
                    <a:pt x="5601208" y="3679571"/>
                    <a:pt x="5262499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F3EEFF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474371" y="3596735"/>
            <a:ext cx="3523336" cy="37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2. Plan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74371" y="4273553"/>
            <a:ext cx="359197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Generate tasks, estimate effort, and create study blocks around available time.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974229" y="3218631"/>
            <a:ext cx="4406846" cy="2759640"/>
            <a:chOff x="0" y="0"/>
            <a:chExt cx="5875795" cy="3679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75782" cy="3679571"/>
            </a:xfrm>
            <a:custGeom>
              <a:avLst/>
              <a:gdLst/>
              <a:ahLst/>
              <a:cxnLst/>
              <a:rect r="r" b="b" t="t" l="l"/>
              <a:pathLst>
                <a:path h="3679571" w="5875782">
                  <a:moveTo>
                    <a:pt x="0" y="613283"/>
                  </a:moveTo>
                  <a:cubicBezTo>
                    <a:pt x="0" y="274574"/>
                    <a:pt x="274574" y="0"/>
                    <a:pt x="613283" y="0"/>
                  </a:cubicBezTo>
                  <a:lnTo>
                    <a:pt x="5262499" y="0"/>
                  </a:lnTo>
                  <a:cubicBezTo>
                    <a:pt x="5601208" y="0"/>
                    <a:pt x="5875782" y="274574"/>
                    <a:pt x="5875782" y="613283"/>
                  </a:cubicBezTo>
                  <a:lnTo>
                    <a:pt x="5875782" y="3066288"/>
                  </a:lnTo>
                  <a:cubicBezTo>
                    <a:pt x="5875782" y="3404997"/>
                    <a:pt x="5601208" y="3679571"/>
                    <a:pt x="5262499" y="3679571"/>
                  </a:cubicBezTo>
                  <a:lnTo>
                    <a:pt x="613283" y="3679571"/>
                  </a:lnTo>
                  <a:cubicBezTo>
                    <a:pt x="274574" y="3679571"/>
                    <a:pt x="0" y="3404997"/>
                    <a:pt x="0" y="3066288"/>
                  </a:cubicBezTo>
                  <a:close/>
                </a:path>
              </a:pathLst>
            </a:custGeom>
            <a:solidFill>
              <a:srgbClr val="EAFAF2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347352" y="3596735"/>
            <a:ext cx="3523336" cy="37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3. Adapt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47352" y="4273553"/>
            <a:ext cx="359197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If the week changes, revise the schedule and ask the student for approval.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23312" y="4154214"/>
            <a:ext cx="160287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475467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96293" y="4154214"/>
            <a:ext cx="160287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475467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WHY AGENTIC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81268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A static scheduler can organize time. An agentic system can reason, react, and recover.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59621" y="2738199"/>
            <a:ext cx="7426728" cy="4544120"/>
            <a:chOff x="0" y="0"/>
            <a:chExt cx="9902304" cy="60588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02317" cy="6058789"/>
            </a:xfrm>
            <a:custGeom>
              <a:avLst/>
              <a:gdLst/>
              <a:ahLst/>
              <a:cxnLst/>
              <a:rect r="r" b="b" t="t" l="l"/>
              <a:pathLst>
                <a:path h="6058789" w="9902317">
                  <a:moveTo>
                    <a:pt x="0" y="1009777"/>
                  </a:moveTo>
                  <a:cubicBezTo>
                    <a:pt x="0" y="452120"/>
                    <a:pt x="452120" y="0"/>
                    <a:pt x="1009777" y="0"/>
                  </a:cubicBezTo>
                  <a:lnTo>
                    <a:pt x="8892540" y="0"/>
                  </a:lnTo>
                  <a:cubicBezTo>
                    <a:pt x="9450197" y="0"/>
                    <a:pt x="9902317" y="452120"/>
                    <a:pt x="9902317" y="1009777"/>
                  </a:cubicBezTo>
                  <a:lnTo>
                    <a:pt x="9902317" y="5049012"/>
                  </a:lnTo>
                  <a:cubicBezTo>
                    <a:pt x="9902317" y="5606669"/>
                    <a:pt x="9450198" y="6058789"/>
                    <a:pt x="8892540" y="6058789"/>
                  </a:cubicBezTo>
                  <a:lnTo>
                    <a:pt x="1009777" y="6058789"/>
                  </a:lnTo>
                  <a:cubicBezTo>
                    <a:pt x="452120" y="6058789"/>
                    <a:pt x="0" y="5606669"/>
                    <a:pt x="0" y="5049012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505293" y="3010691"/>
            <a:ext cx="6735385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Traditional planner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5293" y="3532308"/>
            <a:ext cx="6735385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• Stores deadlines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• Creates reminders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• May generate a schedule once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• Breaks when the student misses time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• Leaves replanning to the user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32925" y="2738199"/>
            <a:ext cx="7563993" cy="4544120"/>
            <a:chOff x="0" y="0"/>
            <a:chExt cx="10085324" cy="60588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85324" cy="6058789"/>
            </a:xfrm>
            <a:custGeom>
              <a:avLst/>
              <a:gdLst/>
              <a:ahLst/>
              <a:cxnLst/>
              <a:rect r="r" b="b" t="t" l="l"/>
              <a:pathLst>
                <a:path h="6058789" w="10085324">
                  <a:moveTo>
                    <a:pt x="0" y="1009777"/>
                  </a:moveTo>
                  <a:cubicBezTo>
                    <a:pt x="0" y="452120"/>
                    <a:pt x="452120" y="0"/>
                    <a:pt x="1009777" y="0"/>
                  </a:cubicBezTo>
                  <a:lnTo>
                    <a:pt x="9075547" y="0"/>
                  </a:lnTo>
                  <a:cubicBezTo>
                    <a:pt x="9633203" y="0"/>
                    <a:pt x="10085324" y="452120"/>
                    <a:pt x="10085324" y="1009777"/>
                  </a:cubicBezTo>
                  <a:lnTo>
                    <a:pt x="10085324" y="5049012"/>
                  </a:lnTo>
                  <a:cubicBezTo>
                    <a:pt x="10085324" y="5606669"/>
                    <a:pt x="9633204" y="6058789"/>
                    <a:pt x="9075547" y="6058789"/>
                  </a:cubicBezTo>
                  <a:lnTo>
                    <a:pt x="1009777" y="6058789"/>
                  </a:lnTo>
                  <a:cubicBezTo>
                    <a:pt x="452120" y="6058789"/>
                    <a:pt x="0" y="5606669"/>
                    <a:pt x="0" y="5049012"/>
                  </a:cubicBezTo>
                  <a:close/>
                </a:path>
              </a:pathLst>
            </a:custGeom>
            <a:solidFill>
              <a:srgbClr val="E8F0FF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878597" y="3010691"/>
            <a:ext cx="687265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StudyFlow 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78597" y="3532308"/>
            <a:ext cx="6872659" cy="3546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• Interprets natural-language requests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• Breaks assignments into tasks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• Uses scheduling tools and validation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• Detects conflicts and repairs plans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• Requests approval before changes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4116" y="7938583"/>
            <a:ext cx="15191051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Core idea: intelligence is not just in generating a plan — it is in deciding what to do next when that plan fails.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PRODUCT SURFACES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StudyFlow AI is designed as a complete academic planning workspace.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28258" y="2738199"/>
            <a:ext cx="3857777" cy="2210572"/>
            <a:chOff x="0" y="0"/>
            <a:chExt cx="5143703" cy="29474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43754" cy="2947416"/>
            </a:xfrm>
            <a:custGeom>
              <a:avLst/>
              <a:gdLst/>
              <a:ahLst/>
              <a:cxnLst/>
              <a:rect r="r" b="b" t="t" l="l"/>
              <a:pathLst>
                <a:path h="2947416" w="5143754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652518" y="0"/>
                  </a:lnTo>
                  <a:cubicBezTo>
                    <a:pt x="4923790" y="0"/>
                    <a:pt x="5143754" y="219964"/>
                    <a:pt x="5143754" y="491236"/>
                  </a:cubicBezTo>
                  <a:lnTo>
                    <a:pt x="5143754" y="2456180"/>
                  </a:lnTo>
                  <a:cubicBezTo>
                    <a:pt x="5143754" y="2727452"/>
                    <a:pt x="4923790" y="2947416"/>
                    <a:pt x="4652518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573930" y="3010691"/>
            <a:ext cx="316644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3930" y="3532308"/>
            <a:ext cx="3166443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Weekly overview, schedule, deadlines, and AI assistant.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414905" y="2738199"/>
            <a:ext cx="3857777" cy="2210572"/>
            <a:chOff x="0" y="0"/>
            <a:chExt cx="5143703" cy="29474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43754" cy="2947416"/>
            </a:xfrm>
            <a:custGeom>
              <a:avLst/>
              <a:gdLst/>
              <a:ahLst/>
              <a:cxnLst/>
              <a:rect r="r" b="b" t="t" l="l"/>
              <a:pathLst>
                <a:path h="2947416" w="5143754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652518" y="0"/>
                  </a:lnTo>
                  <a:cubicBezTo>
                    <a:pt x="4923790" y="0"/>
                    <a:pt x="5143754" y="219964"/>
                    <a:pt x="5143754" y="491236"/>
                  </a:cubicBezTo>
                  <a:lnTo>
                    <a:pt x="5143754" y="2456180"/>
                  </a:lnTo>
                  <a:cubicBezTo>
                    <a:pt x="5143754" y="2727452"/>
                    <a:pt x="4923790" y="2947416"/>
                    <a:pt x="4652518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760577" y="3010691"/>
            <a:ext cx="316644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Assignments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60577" y="3532308"/>
            <a:ext cx="3166443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Track due dates, priorities, status, and estimated effort.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01562" y="2738199"/>
            <a:ext cx="3857777" cy="2210572"/>
            <a:chOff x="0" y="0"/>
            <a:chExt cx="5143703" cy="29474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43754" cy="2947416"/>
            </a:xfrm>
            <a:custGeom>
              <a:avLst/>
              <a:gdLst/>
              <a:ahLst/>
              <a:cxnLst/>
              <a:rect r="r" b="b" t="t" l="l"/>
              <a:pathLst>
                <a:path h="2947416" w="5143754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652518" y="0"/>
                  </a:lnTo>
                  <a:cubicBezTo>
                    <a:pt x="4923790" y="0"/>
                    <a:pt x="5143754" y="219964"/>
                    <a:pt x="5143754" y="491236"/>
                  </a:cubicBezTo>
                  <a:lnTo>
                    <a:pt x="5143754" y="2456180"/>
                  </a:lnTo>
                  <a:cubicBezTo>
                    <a:pt x="5143754" y="2727452"/>
                    <a:pt x="4923790" y="2947416"/>
                    <a:pt x="4652518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947224" y="3010691"/>
            <a:ext cx="316644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Tasks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47224" y="3532308"/>
            <a:ext cx="3166443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Manage subtasks, progress, and focused study actions.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788209" y="2738199"/>
            <a:ext cx="3240081" cy="2210572"/>
            <a:chOff x="0" y="0"/>
            <a:chExt cx="4320108" cy="29474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20032" cy="2947416"/>
            </a:xfrm>
            <a:custGeom>
              <a:avLst/>
              <a:gdLst/>
              <a:ahLst/>
              <a:cxnLst/>
              <a:rect r="r" b="b" t="t" l="l"/>
              <a:pathLst>
                <a:path h="2947416" w="4320032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3828796" y="0"/>
                  </a:lnTo>
                  <a:cubicBezTo>
                    <a:pt x="4100068" y="0"/>
                    <a:pt x="4320032" y="219964"/>
                    <a:pt x="4320032" y="491236"/>
                  </a:cubicBezTo>
                  <a:lnTo>
                    <a:pt x="4320032" y="2456180"/>
                  </a:lnTo>
                  <a:cubicBezTo>
                    <a:pt x="4320032" y="2727452"/>
                    <a:pt x="4100068" y="2947416"/>
                    <a:pt x="3828796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133881" y="3010691"/>
            <a:ext cx="254873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Calendar + 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33881" y="3532308"/>
            <a:ext cx="2548738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Generate plans and replan after disruptions.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72676" y="5833853"/>
            <a:ext cx="5490686" cy="3660458"/>
            <a:chOff x="0" y="0"/>
            <a:chExt cx="7320915" cy="4880610"/>
          </a:xfrm>
        </p:grpSpPr>
        <p:sp>
          <p:nvSpPr>
            <p:cNvPr name="Freeform 27" id="27" descr="a_wide_clean_modern_ui_dashboard_mockup_in_a_lig.png"/>
            <p:cNvSpPr/>
            <p:nvPr/>
          </p:nvSpPr>
          <p:spPr>
            <a:xfrm flipH="false" flipV="false" rot="0">
              <a:off x="0" y="0"/>
              <a:ext cx="7320915" cy="4880610"/>
            </a:xfrm>
            <a:custGeom>
              <a:avLst/>
              <a:gdLst/>
              <a:ahLst/>
              <a:cxnLst/>
              <a:rect r="r" b="b" t="t" l="l"/>
              <a:pathLst>
                <a:path h="4880610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4880610"/>
                  </a:lnTo>
                  <a:lnTo>
                    <a:pt x="0" y="488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382931" y="5833853"/>
            <a:ext cx="5490686" cy="3090158"/>
            <a:chOff x="0" y="0"/>
            <a:chExt cx="7320915" cy="4120210"/>
          </a:xfrm>
        </p:grpSpPr>
        <p:sp>
          <p:nvSpPr>
            <p:cNvPr name="Freeform 29" id="29" descr="studyflow_ai_assignment_dashboard.png"/>
            <p:cNvSpPr/>
            <p:nvPr/>
          </p:nvSpPr>
          <p:spPr>
            <a:xfrm flipH="false" flipV="false" rot="0">
              <a:off x="0" y="0"/>
              <a:ext cx="7320915" cy="4120261"/>
            </a:xfrm>
            <a:custGeom>
              <a:avLst/>
              <a:gdLst/>
              <a:ahLst/>
              <a:cxnLst/>
              <a:rect r="r" b="b" t="t" l="l"/>
              <a:pathLst>
                <a:path h="4120261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4120261"/>
                  </a:lnTo>
                  <a:lnTo>
                    <a:pt x="0" y="4120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393176" y="5833853"/>
            <a:ext cx="5490686" cy="3660458"/>
            <a:chOff x="0" y="0"/>
            <a:chExt cx="7320915" cy="4880610"/>
          </a:xfrm>
        </p:grpSpPr>
        <p:sp>
          <p:nvSpPr>
            <p:cNvPr name="Freeform 31" id="31" descr="a_clean_modern_ui_mockup_of_a_study_productivity.png"/>
            <p:cNvSpPr/>
            <p:nvPr/>
          </p:nvSpPr>
          <p:spPr>
            <a:xfrm flipH="false" flipV="false" rot="0">
              <a:off x="0" y="0"/>
              <a:ext cx="7320915" cy="4880610"/>
            </a:xfrm>
            <a:custGeom>
              <a:avLst/>
              <a:gdLst/>
              <a:ahLst/>
              <a:cxnLst/>
              <a:rect r="r" b="b" t="t" l="l"/>
              <a:pathLst>
                <a:path h="4880610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4880610"/>
                  </a:lnTo>
                  <a:lnTo>
                    <a:pt x="0" y="488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UI CONCEPT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A clean student-facing experience focused on clarity, action, and confidence.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9500" y="2588971"/>
            <a:ext cx="10706843" cy="7019735"/>
            <a:chOff x="0" y="0"/>
            <a:chExt cx="14275791" cy="9359646"/>
          </a:xfrm>
        </p:grpSpPr>
        <p:sp>
          <p:nvSpPr>
            <p:cNvPr name="Freeform 11" id="11" descr="a_wide_clean_modern_ui_dashboard_mockup_in_a_lig.png"/>
            <p:cNvSpPr/>
            <p:nvPr/>
          </p:nvSpPr>
          <p:spPr>
            <a:xfrm flipH="false" flipV="false" rot="0">
              <a:off x="0" y="0"/>
              <a:ext cx="14275815" cy="9359709"/>
            </a:xfrm>
            <a:custGeom>
              <a:avLst/>
              <a:gdLst/>
              <a:ahLst/>
              <a:cxnLst/>
              <a:rect r="r" b="b" t="t" l="l"/>
              <a:pathLst>
                <a:path h="9359709" w="14275815">
                  <a:moveTo>
                    <a:pt x="0" y="0"/>
                  </a:moveTo>
                  <a:lnTo>
                    <a:pt x="14275815" y="0"/>
                  </a:lnTo>
                  <a:lnTo>
                    <a:pt x="14275815" y="9359709"/>
                  </a:lnTo>
                  <a:lnTo>
                    <a:pt x="0" y="9359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41" r="0" b="-84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85005" y="3892950"/>
            <a:ext cx="3555169" cy="2205888"/>
            <a:chOff x="0" y="0"/>
            <a:chExt cx="4740225" cy="2941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40215" cy="2941197"/>
            </a:xfrm>
            <a:custGeom>
              <a:avLst/>
              <a:gdLst/>
              <a:ahLst/>
              <a:cxnLst/>
              <a:rect r="r" b="b" t="t" l="l"/>
              <a:pathLst>
                <a:path h="2941197" w="4740215">
                  <a:moveTo>
                    <a:pt x="0" y="490201"/>
                  </a:moveTo>
                  <a:cubicBezTo>
                    <a:pt x="0" y="219407"/>
                    <a:pt x="116799" y="0"/>
                    <a:pt x="260955" y="0"/>
                  </a:cubicBezTo>
                  <a:lnTo>
                    <a:pt x="4479260" y="0"/>
                  </a:lnTo>
                  <a:cubicBezTo>
                    <a:pt x="4623415" y="0"/>
                    <a:pt x="4740215" y="219407"/>
                    <a:pt x="4740215" y="490201"/>
                  </a:cubicBezTo>
                  <a:lnTo>
                    <a:pt x="4740215" y="2451003"/>
                  </a:lnTo>
                  <a:cubicBezTo>
                    <a:pt x="4740215" y="2721797"/>
                    <a:pt x="4623415" y="2941197"/>
                    <a:pt x="4479260" y="2941197"/>
                  </a:cubicBezTo>
                  <a:lnTo>
                    <a:pt x="260955" y="2941197"/>
                  </a:lnTo>
                  <a:cubicBezTo>
                    <a:pt x="116799" y="2941197"/>
                    <a:pt x="0" y="2721797"/>
                    <a:pt x="0" y="2451003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692577" y="4165441"/>
            <a:ext cx="296522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92577" y="4687059"/>
            <a:ext cx="253727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Weekly calendar, focus tasks, progress, and AI guidance.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PRODUCT SURFACES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StudyFlow AI is designed as a complete academic planning workspace.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1550" y="3632097"/>
            <a:ext cx="3857777" cy="2210572"/>
            <a:chOff x="0" y="0"/>
            <a:chExt cx="5143703" cy="29474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43754" cy="2947416"/>
            </a:xfrm>
            <a:custGeom>
              <a:avLst/>
              <a:gdLst/>
              <a:ahLst/>
              <a:cxnLst/>
              <a:rect r="r" b="b" t="t" l="l"/>
              <a:pathLst>
                <a:path h="2947416" w="5143754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652518" y="0"/>
                  </a:lnTo>
                  <a:cubicBezTo>
                    <a:pt x="4923790" y="0"/>
                    <a:pt x="5143754" y="219964"/>
                    <a:pt x="5143754" y="491236"/>
                  </a:cubicBezTo>
                  <a:lnTo>
                    <a:pt x="5143754" y="2456180"/>
                  </a:lnTo>
                  <a:cubicBezTo>
                    <a:pt x="5143754" y="2727452"/>
                    <a:pt x="4923790" y="2947416"/>
                    <a:pt x="4652518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36267" y="3904588"/>
            <a:ext cx="316644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Assignments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6267" y="4426206"/>
            <a:ext cx="3166443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Track due dates, priorities, status, and estimated effort.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250760" y="2684504"/>
            <a:ext cx="12331095" cy="6939939"/>
            <a:chOff x="0" y="0"/>
            <a:chExt cx="7320915" cy="4120210"/>
          </a:xfrm>
        </p:grpSpPr>
        <p:sp>
          <p:nvSpPr>
            <p:cNvPr name="Freeform 15" id="15" descr="studyflow_ai_assignment_dashboard.png"/>
            <p:cNvSpPr/>
            <p:nvPr/>
          </p:nvSpPr>
          <p:spPr>
            <a:xfrm flipH="false" flipV="false" rot="0">
              <a:off x="0" y="0"/>
              <a:ext cx="7320915" cy="4120261"/>
            </a:xfrm>
            <a:custGeom>
              <a:avLst/>
              <a:gdLst/>
              <a:ahLst/>
              <a:cxnLst/>
              <a:rect r="r" b="b" t="t" l="l"/>
              <a:pathLst>
                <a:path h="4120261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4120261"/>
                  </a:lnTo>
                  <a:lnTo>
                    <a:pt x="0" y="4120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PRODUCT SURFACES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StudyFlow AI is designed as a complete academic planning workspace.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3517797"/>
            <a:ext cx="3857777" cy="2210572"/>
            <a:chOff x="0" y="0"/>
            <a:chExt cx="5143703" cy="29474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43754" cy="2947416"/>
            </a:xfrm>
            <a:custGeom>
              <a:avLst/>
              <a:gdLst/>
              <a:ahLst/>
              <a:cxnLst/>
              <a:rect r="r" b="b" t="t" l="l"/>
              <a:pathLst>
                <a:path h="2947416" w="5143754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4652518" y="0"/>
                  </a:lnTo>
                  <a:cubicBezTo>
                    <a:pt x="4923790" y="0"/>
                    <a:pt x="5143754" y="219964"/>
                    <a:pt x="5143754" y="491236"/>
                  </a:cubicBezTo>
                  <a:lnTo>
                    <a:pt x="5143754" y="2456180"/>
                  </a:lnTo>
                  <a:cubicBezTo>
                    <a:pt x="5143754" y="2727452"/>
                    <a:pt x="4923790" y="2947416"/>
                    <a:pt x="4652518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74362" y="3790288"/>
            <a:ext cx="3166443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Tasks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4362" y="4311906"/>
            <a:ext cx="3166443" cy="121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Manage subtasks, progress, and focused study actions.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589211" y="2691302"/>
            <a:ext cx="11011139" cy="7223251"/>
            <a:chOff x="0" y="0"/>
            <a:chExt cx="7440012" cy="4880610"/>
          </a:xfrm>
        </p:grpSpPr>
        <p:sp>
          <p:nvSpPr>
            <p:cNvPr name="Freeform 15" id="15" descr="a_clean_modern_ui_mockup_of_a_study_productivity.png"/>
            <p:cNvSpPr/>
            <p:nvPr/>
          </p:nvSpPr>
          <p:spPr>
            <a:xfrm flipH="false" flipV="false" rot="0">
              <a:off x="0" y="0"/>
              <a:ext cx="7440013" cy="4880610"/>
            </a:xfrm>
            <a:custGeom>
              <a:avLst/>
              <a:gdLst/>
              <a:ahLst/>
              <a:cxnLst/>
              <a:rect r="r" b="b" t="t" l="l"/>
              <a:pathLst>
                <a:path h="4880610" w="7440013">
                  <a:moveTo>
                    <a:pt x="0" y="0"/>
                  </a:moveTo>
                  <a:lnTo>
                    <a:pt x="7440013" y="0"/>
                  </a:lnTo>
                  <a:lnTo>
                    <a:pt x="7440013" y="4880610"/>
                  </a:lnTo>
                  <a:lnTo>
                    <a:pt x="0" y="488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13" r="0" b="-813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LIVE DEMO STORY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The strongest moment in the demo is when the schedule repairs itself.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82500" y="2787544"/>
            <a:ext cx="15923000" cy="1235402"/>
            <a:chOff x="0" y="0"/>
            <a:chExt cx="21230666" cy="16472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30717" cy="1647317"/>
            </a:xfrm>
            <a:custGeom>
              <a:avLst/>
              <a:gdLst/>
              <a:ahLst/>
              <a:cxnLst/>
              <a:rect r="r" b="b" t="t" l="l"/>
              <a:pathLst>
                <a:path h="1647317" w="21230717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20956143" y="0"/>
                  </a:lnTo>
                  <a:cubicBezTo>
                    <a:pt x="21107781" y="0"/>
                    <a:pt x="21230717" y="122936"/>
                    <a:pt x="21230717" y="274574"/>
                  </a:cubicBezTo>
                  <a:lnTo>
                    <a:pt x="21230717" y="1372743"/>
                  </a:lnTo>
                  <a:cubicBezTo>
                    <a:pt x="21230717" y="1524381"/>
                    <a:pt x="21107781" y="1647317"/>
                    <a:pt x="20956143" y="1647317"/>
                  </a:cubicBezTo>
                  <a:lnTo>
                    <a:pt x="274574" y="1647317"/>
                  </a:lnTo>
                  <a:cubicBezTo>
                    <a:pt x="122936" y="1647190"/>
                    <a:pt x="0" y="1524254"/>
                    <a:pt x="0" y="1372616"/>
                  </a:cubicBezTo>
                  <a:close/>
                </a:path>
              </a:pathLst>
            </a:custGeom>
            <a:solidFill>
              <a:srgbClr val="101828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70009" y="2887151"/>
            <a:ext cx="14916512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>
                <a:solidFill>
                  <a:srgbClr val="FAFBFF"/>
                </a:solidFill>
                <a:latin typeface="Aptos"/>
                <a:ea typeface="Aptos"/>
                <a:cs typeface="Aptos"/>
                <a:sym typeface="Aptos"/>
              </a:rPr>
              <a:t>Student says: “I have an unexpected meeting tomorrow from 9 AM to 11 AM. Rearrange my schedule without missing deadlines.”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65523" y="4316768"/>
            <a:ext cx="6603130" cy="3720513"/>
            <a:chOff x="0" y="0"/>
            <a:chExt cx="8804173" cy="49606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04148" cy="4960620"/>
            </a:xfrm>
            <a:custGeom>
              <a:avLst/>
              <a:gdLst/>
              <a:ahLst/>
              <a:cxnLst/>
              <a:rect r="r" b="b" t="t" l="l"/>
              <a:pathLst>
                <a:path h="4960620" w="8804148">
                  <a:moveTo>
                    <a:pt x="0" y="826770"/>
                  </a:moveTo>
                  <a:cubicBezTo>
                    <a:pt x="0" y="370205"/>
                    <a:pt x="370205" y="0"/>
                    <a:pt x="826770" y="0"/>
                  </a:cubicBezTo>
                  <a:lnTo>
                    <a:pt x="7977378" y="0"/>
                  </a:lnTo>
                  <a:cubicBezTo>
                    <a:pt x="8433943" y="0"/>
                    <a:pt x="8804148" y="370205"/>
                    <a:pt x="8804148" y="826770"/>
                  </a:cubicBezTo>
                  <a:lnTo>
                    <a:pt x="8804148" y="4133850"/>
                  </a:lnTo>
                  <a:cubicBezTo>
                    <a:pt x="8804148" y="4590415"/>
                    <a:pt x="8433943" y="4960620"/>
                    <a:pt x="7977378" y="4960620"/>
                  </a:cubicBezTo>
                  <a:lnTo>
                    <a:pt x="826770" y="4960620"/>
                  </a:lnTo>
                  <a:cubicBezTo>
                    <a:pt x="370205" y="4960747"/>
                    <a:pt x="0" y="4590542"/>
                    <a:pt x="0" y="4133850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711195" y="4589269"/>
            <a:ext cx="591178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Before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11195" y="5110877"/>
            <a:ext cx="5911786" cy="272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9–11 AM  ML homework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11–12 PM  Chemistry review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1–3 PM  Class (fixed)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3–4 PM  Available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4–5 PM  Available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01562" y="4316768"/>
            <a:ext cx="6877660" cy="3720513"/>
            <a:chOff x="0" y="0"/>
            <a:chExt cx="9170213" cy="49606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70162" cy="4960620"/>
            </a:xfrm>
            <a:custGeom>
              <a:avLst/>
              <a:gdLst/>
              <a:ahLst/>
              <a:cxnLst/>
              <a:rect r="r" b="b" t="t" l="l"/>
              <a:pathLst>
                <a:path h="4960620" w="9170162">
                  <a:moveTo>
                    <a:pt x="0" y="826770"/>
                  </a:moveTo>
                  <a:cubicBezTo>
                    <a:pt x="0" y="370205"/>
                    <a:pt x="370205" y="0"/>
                    <a:pt x="826770" y="0"/>
                  </a:cubicBezTo>
                  <a:lnTo>
                    <a:pt x="8343392" y="0"/>
                  </a:lnTo>
                  <a:cubicBezTo>
                    <a:pt x="8799957" y="0"/>
                    <a:pt x="9170162" y="370205"/>
                    <a:pt x="9170162" y="826770"/>
                  </a:cubicBezTo>
                  <a:lnTo>
                    <a:pt x="9170162" y="4133850"/>
                  </a:lnTo>
                  <a:cubicBezTo>
                    <a:pt x="9170162" y="4590415"/>
                    <a:pt x="8799957" y="4960620"/>
                    <a:pt x="8343392" y="4960620"/>
                  </a:cubicBezTo>
                  <a:lnTo>
                    <a:pt x="826770" y="4960620"/>
                  </a:lnTo>
                  <a:cubicBezTo>
                    <a:pt x="370205" y="4960747"/>
                    <a:pt x="0" y="4590542"/>
                    <a:pt x="0" y="4133850"/>
                  </a:cubicBezTo>
                  <a:close/>
                </a:path>
              </a:pathLst>
            </a:custGeom>
            <a:solidFill>
              <a:srgbClr val="E8F0FF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947224" y="4589269"/>
            <a:ext cx="618631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After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47224" y="5110877"/>
            <a:ext cx="6186316" cy="272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9–11 AM  Unexpected meeting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11–1 PM  ML homework – part 2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1–3 PM  Class (fixed)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3–4 PM  Chemistry review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101828"/>
                </a:solidFill>
                <a:latin typeface="Aptos"/>
                <a:ea typeface="Aptos"/>
                <a:cs typeface="Aptos"/>
                <a:sym typeface="Aptos"/>
              </a:rPr>
              <a:t>4–5 PM  Study buffer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4116" y="8624926"/>
            <a:ext cx="1532831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Result: the plan adapts, constraints are preserved, and the student stays in control through approval.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6798" y="886468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6886" y="1235407"/>
            <a:ext cx="1419228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StudyFlow AI combines agents, deterministic scheduling logic, and a student-facing web app.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96886" y="2600925"/>
            <a:ext cx="15662767" cy="1249709"/>
            <a:chOff x="0" y="0"/>
            <a:chExt cx="20883690" cy="16662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83753" cy="1666367"/>
            </a:xfrm>
            <a:custGeom>
              <a:avLst/>
              <a:gdLst/>
              <a:ahLst/>
              <a:cxnLst/>
              <a:rect r="r" b="b" t="t" l="l"/>
              <a:pathLst>
                <a:path h="1666367" w="20883753">
                  <a:moveTo>
                    <a:pt x="0" y="277749"/>
                  </a:moveTo>
                  <a:cubicBezTo>
                    <a:pt x="0" y="124333"/>
                    <a:pt x="124333" y="0"/>
                    <a:pt x="277749" y="0"/>
                  </a:cubicBezTo>
                  <a:lnTo>
                    <a:pt x="20606004" y="0"/>
                  </a:lnTo>
                  <a:cubicBezTo>
                    <a:pt x="20759420" y="0"/>
                    <a:pt x="20883753" y="124333"/>
                    <a:pt x="20883753" y="277749"/>
                  </a:cubicBezTo>
                  <a:lnTo>
                    <a:pt x="20883753" y="1388618"/>
                  </a:lnTo>
                  <a:cubicBezTo>
                    <a:pt x="20883753" y="1542034"/>
                    <a:pt x="20759420" y="1666367"/>
                    <a:pt x="20606004" y="1666367"/>
                  </a:cubicBezTo>
                  <a:lnTo>
                    <a:pt x="277749" y="1666367"/>
                  </a:lnTo>
                  <a:cubicBezTo>
                    <a:pt x="124333" y="1666240"/>
                    <a:pt x="0" y="1541907"/>
                    <a:pt x="0" y="1388491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42558" y="2873426"/>
            <a:ext cx="1497142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Frontend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2558" y="3395043"/>
            <a:ext cx="14971424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React + TypeScript + Tailwind UI for Dashboard, Assignments, Tasks, Calendar, and AI Assistant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65523" y="4316768"/>
            <a:ext cx="2691013" cy="1936042"/>
            <a:chOff x="0" y="0"/>
            <a:chExt cx="3588017" cy="25813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88004" cy="2581402"/>
            </a:xfrm>
            <a:custGeom>
              <a:avLst/>
              <a:gdLst/>
              <a:ahLst/>
              <a:cxnLst/>
              <a:rect r="r" b="b" t="t" l="l"/>
              <a:pathLst>
                <a:path h="2581402" w="3588004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3157728" y="0"/>
                  </a:lnTo>
                  <a:cubicBezTo>
                    <a:pt x="3395345" y="0"/>
                    <a:pt x="3588004" y="192659"/>
                    <a:pt x="3588004" y="430276"/>
                  </a:cubicBezTo>
                  <a:lnTo>
                    <a:pt x="3588004" y="2151126"/>
                  </a:lnTo>
                  <a:cubicBezTo>
                    <a:pt x="3588004" y="2388743"/>
                    <a:pt x="3395345" y="2581402"/>
                    <a:pt x="3157728" y="2581402"/>
                  </a:cubicBezTo>
                  <a:lnTo>
                    <a:pt x="430276" y="2581402"/>
                  </a:lnTo>
                  <a:cubicBezTo>
                    <a:pt x="192659" y="2581402"/>
                    <a:pt x="0" y="2388743"/>
                    <a:pt x="0" y="2151126"/>
                  </a:cubicBezTo>
                  <a:close/>
                </a:path>
              </a:pathLst>
            </a:custGeom>
            <a:solidFill>
              <a:srgbClr val="F3EEFF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573930" y="4740259"/>
            <a:ext cx="226047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Supervisor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1381" y="5261877"/>
            <a:ext cx="2178120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7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Routes requests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659935" y="4316768"/>
            <a:ext cx="2691013" cy="1936042"/>
            <a:chOff x="0" y="0"/>
            <a:chExt cx="3588017" cy="25813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88004" cy="2581402"/>
            </a:xfrm>
            <a:custGeom>
              <a:avLst/>
              <a:gdLst/>
              <a:ahLst/>
              <a:cxnLst/>
              <a:rect r="r" b="b" t="t" l="l"/>
              <a:pathLst>
                <a:path h="2581402" w="3588004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3157728" y="0"/>
                  </a:lnTo>
                  <a:cubicBezTo>
                    <a:pt x="3395345" y="0"/>
                    <a:pt x="3588004" y="192659"/>
                    <a:pt x="3588004" y="430276"/>
                  </a:cubicBezTo>
                  <a:lnTo>
                    <a:pt x="3588004" y="2151126"/>
                  </a:lnTo>
                  <a:cubicBezTo>
                    <a:pt x="3588004" y="2388743"/>
                    <a:pt x="3395345" y="2581402"/>
                    <a:pt x="3157728" y="2581402"/>
                  </a:cubicBezTo>
                  <a:lnTo>
                    <a:pt x="430276" y="2581402"/>
                  </a:lnTo>
                  <a:cubicBezTo>
                    <a:pt x="192659" y="2581402"/>
                    <a:pt x="0" y="2388743"/>
                    <a:pt x="0" y="2151126"/>
                  </a:cubicBezTo>
                  <a:close/>
                </a:path>
              </a:pathLst>
            </a:custGeom>
            <a:solidFill>
              <a:srgbClr val="F3EEFF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4868342" y="4740259"/>
            <a:ext cx="226047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Task Planning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95793" y="5261877"/>
            <a:ext cx="2178120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7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Breaks down work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954347" y="4316768"/>
            <a:ext cx="2691013" cy="1936042"/>
            <a:chOff x="0" y="0"/>
            <a:chExt cx="3588017" cy="25813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88004" cy="2581402"/>
            </a:xfrm>
            <a:custGeom>
              <a:avLst/>
              <a:gdLst/>
              <a:ahLst/>
              <a:cxnLst/>
              <a:rect r="r" b="b" t="t" l="l"/>
              <a:pathLst>
                <a:path h="2581402" w="3588004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3157728" y="0"/>
                  </a:lnTo>
                  <a:cubicBezTo>
                    <a:pt x="3395345" y="0"/>
                    <a:pt x="3588004" y="192659"/>
                    <a:pt x="3588004" y="430276"/>
                  </a:cubicBezTo>
                  <a:lnTo>
                    <a:pt x="3588004" y="2151126"/>
                  </a:lnTo>
                  <a:cubicBezTo>
                    <a:pt x="3588004" y="2388743"/>
                    <a:pt x="3395345" y="2581402"/>
                    <a:pt x="3157728" y="2581402"/>
                  </a:cubicBezTo>
                  <a:lnTo>
                    <a:pt x="430276" y="2581402"/>
                  </a:lnTo>
                  <a:cubicBezTo>
                    <a:pt x="192659" y="2581402"/>
                    <a:pt x="0" y="2388743"/>
                    <a:pt x="0" y="2151126"/>
                  </a:cubicBezTo>
                  <a:close/>
                </a:path>
              </a:pathLst>
            </a:custGeom>
            <a:solidFill>
              <a:srgbClr val="E8F0FF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8162754" y="4740259"/>
            <a:ext cx="226047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Scheduling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90205" y="5261877"/>
            <a:ext cx="2178120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7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Allocates study time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248758" y="4316768"/>
            <a:ext cx="2691013" cy="1936042"/>
            <a:chOff x="0" y="0"/>
            <a:chExt cx="3588017" cy="25813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88004" cy="2581402"/>
            </a:xfrm>
            <a:custGeom>
              <a:avLst/>
              <a:gdLst/>
              <a:ahLst/>
              <a:cxnLst/>
              <a:rect r="r" b="b" t="t" l="l"/>
              <a:pathLst>
                <a:path h="2581402" w="3588004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3157728" y="0"/>
                  </a:lnTo>
                  <a:cubicBezTo>
                    <a:pt x="3395345" y="0"/>
                    <a:pt x="3588004" y="192659"/>
                    <a:pt x="3588004" y="430276"/>
                  </a:cubicBezTo>
                  <a:lnTo>
                    <a:pt x="3588004" y="2151126"/>
                  </a:lnTo>
                  <a:cubicBezTo>
                    <a:pt x="3588004" y="2388743"/>
                    <a:pt x="3395345" y="2581402"/>
                    <a:pt x="3157728" y="2581402"/>
                  </a:cubicBezTo>
                  <a:lnTo>
                    <a:pt x="430276" y="2581402"/>
                  </a:lnTo>
                  <a:cubicBezTo>
                    <a:pt x="192659" y="2581402"/>
                    <a:pt x="0" y="2388743"/>
                    <a:pt x="0" y="2151126"/>
                  </a:cubicBezTo>
                  <a:close/>
                </a:path>
              </a:pathLst>
            </a:custGeom>
            <a:solidFill>
              <a:srgbClr val="EAFAF2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1457165" y="4740259"/>
            <a:ext cx="226047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Replanning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84616" y="5261877"/>
            <a:ext cx="2178120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7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Repairs schedules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856846" y="4316768"/>
            <a:ext cx="2691013" cy="1936042"/>
            <a:chOff x="0" y="0"/>
            <a:chExt cx="3588017" cy="25813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88004" cy="2581402"/>
            </a:xfrm>
            <a:custGeom>
              <a:avLst/>
              <a:gdLst/>
              <a:ahLst/>
              <a:cxnLst/>
              <a:rect r="r" b="b" t="t" l="l"/>
              <a:pathLst>
                <a:path h="2581402" w="3588004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3157728" y="0"/>
                  </a:lnTo>
                  <a:cubicBezTo>
                    <a:pt x="3395345" y="0"/>
                    <a:pt x="3588004" y="192659"/>
                    <a:pt x="3588004" y="430276"/>
                  </a:cubicBezTo>
                  <a:lnTo>
                    <a:pt x="3588004" y="2151126"/>
                  </a:lnTo>
                  <a:cubicBezTo>
                    <a:pt x="3588004" y="2388743"/>
                    <a:pt x="3395345" y="2581402"/>
                    <a:pt x="3157728" y="2581402"/>
                  </a:cubicBezTo>
                  <a:lnTo>
                    <a:pt x="430276" y="2581402"/>
                  </a:lnTo>
                  <a:cubicBezTo>
                    <a:pt x="192659" y="2581402"/>
                    <a:pt x="0" y="2388743"/>
                    <a:pt x="0" y="2151126"/>
                  </a:cubicBezTo>
                  <a:close/>
                </a:path>
              </a:pathLst>
            </a:custGeom>
            <a:solidFill>
              <a:srgbClr val="E8F0FF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4065244" y="4740259"/>
            <a:ext cx="226047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Validation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092695" y="5261877"/>
            <a:ext cx="2178120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7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Checks feasibility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96886" y="6924846"/>
            <a:ext cx="15662767" cy="1318336"/>
            <a:chOff x="0" y="0"/>
            <a:chExt cx="20883690" cy="17577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883752" cy="1757807"/>
            </a:xfrm>
            <a:custGeom>
              <a:avLst/>
              <a:gdLst/>
              <a:ahLst/>
              <a:cxnLst/>
              <a:rect r="r" b="b" t="t" l="l"/>
              <a:pathLst>
                <a:path h="1757807" w="20883752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20590763" y="0"/>
                  </a:lnTo>
                  <a:cubicBezTo>
                    <a:pt x="20752561" y="0"/>
                    <a:pt x="20883752" y="131191"/>
                    <a:pt x="20883752" y="292989"/>
                  </a:cubicBezTo>
                  <a:lnTo>
                    <a:pt x="20883752" y="1464818"/>
                  </a:lnTo>
                  <a:cubicBezTo>
                    <a:pt x="20883752" y="1626616"/>
                    <a:pt x="20752561" y="1757807"/>
                    <a:pt x="20590763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642558" y="7197347"/>
            <a:ext cx="1497142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Backend + Data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2558" y="7718955"/>
            <a:ext cx="1497142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FastAPI • LangGraph • SQLite • scheduling tools • approval state • activity logs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6798" y="886468"/>
            <a:ext cx="418433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WHA</a:t>
            </a: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T MAKES STUDYFLOW SPECIAL?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6886" y="1235407"/>
            <a:ext cx="1419228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I</a:t>
            </a: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t is not just a planner. It is a planning system that can explain and repair decisions.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0984" y="3287268"/>
            <a:ext cx="4750022" cy="3445983"/>
            <a:chOff x="0" y="0"/>
            <a:chExt cx="6333363" cy="4594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3363" cy="4594606"/>
            </a:xfrm>
            <a:custGeom>
              <a:avLst/>
              <a:gdLst/>
              <a:ahLst/>
              <a:cxnLst/>
              <a:rect r="r" b="b" t="t" l="l"/>
              <a:pathLst>
                <a:path h="4594606" w="6333363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5567553" y="0"/>
                  </a:lnTo>
                  <a:cubicBezTo>
                    <a:pt x="5990463" y="0"/>
                    <a:pt x="6333363" y="342900"/>
                    <a:pt x="6333363" y="765810"/>
                  </a:cubicBezTo>
                  <a:lnTo>
                    <a:pt x="6333363" y="3828796"/>
                  </a:lnTo>
                  <a:cubicBezTo>
                    <a:pt x="6333363" y="4251706"/>
                    <a:pt x="5990463" y="4594606"/>
                    <a:pt x="5567553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1A2337"/>
            </a:solidFill>
            <a:ln w="14299" cap="sq">
              <a:solidFill>
                <a:srgbClr val="32415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36656" y="3724485"/>
            <a:ext cx="404495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AFBFF"/>
                </a:solidFill>
                <a:latin typeface="Aptos Bold"/>
                <a:ea typeface="Aptos Bold"/>
                <a:cs typeface="Aptos Bold"/>
                <a:sym typeface="Aptos Bold"/>
              </a:rPr>
              <a:t>End-to-end 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656" y="4438269"/>
            <a:ext cx="3935139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D6DDEB"/>
                </a:solidFill>
                <a:latin typeface="Aptos"/>
                <a:ea typeface="Aptos"/>
                <a:cs typeface="Aptos"/>
                <a:sym typeface="Aptos"/>
              </a:rPr>
              <a:t>Assignment → task → calendar → replanning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01239" y="3287268"/>
            <a:ext cx="4750022" cy="3445983"/>
            <a:chOff x="0" y="0"/>
            <a:chExt cx="6333363" cy="45946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33363" cy="4594606"/>
            </a:xfrm>
            <a:custGeom>
              <a:avLst/>
              <a:gdLst/>
              <a:ahLst/>
              <a:cxnLst/>
              <a:rect r="r" b="b" t="t" l="l"/>
              <a:pathLst>
                <a:path h="4594606" w="6333363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5567553" y="0"/>
                  </a:lnTo>
                  <a:cubicBezTo>
                    <a:pt x="5990463" y="0"/>
                    <a:pt x="6333363" y="342900"/>
                    <a:pt x="6333363" y="765810"/>
                  </a:cubicBezTo>
                  <a:lnTo>
                    <a:pt x="6333363" y="3828796"/>
                  </a:lnTo>
                  <a:cubicBezTo>
                    <a:pt x="6333363" y="4251706"/>
                    <a:pt x="5990463" y="4594606"/>
                    <a:pt x="5567553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1A2337"/>
            </a:solidFill>
            <a:ln w="14299" cap="sq">
              <a:solidFill>
                <a:srgbClr val="32415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446911" y="3724485"/>
            <a:ext cx="404495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AFBFF"/>
                </a:solidFill>
                <a:latin typeface="Aptos Bold"/>
                <a:ea typeface="Aptos Bold"/>
                <a:cs typeface="Aptos Bold"/>
                <a:sym typeface="Aptos Bold"/>
              </a:rPr>
              <a:t>Human-in-the-loop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46911" y="4438269"/>
            <a:ext cx="3935139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D6DDEB"/>
                </a:solidFill>
                <a:latin typeface="Aptos"/>
                <a:ea typeface="Aptos"/>
                <a:cs typeface="Aptos"/>
                <a:sym typeface="Aptos"/>
              </a:rPr>
              <a:t>All meaningful schedule edits are reviewed before they are applied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111494" y="3287268"/>
            <a:ext cx="4750022" cy="3445983"/>
            <a:chOff x="0" y="0"/>
            <a:chExt cx="6333363" cy="45946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33363" cy="4594606"/>
            </a:xfrm>
            <a:custGeom>
              <a:avLst/>
              <a:gdLst/>
              <a:ahLst/>
              <a:cxnLst/>
              <a:rect r="r" b="b" t="t" l="l"/>
              <a:pathLst>
                <a:path h="4594606" w="6333363">
                  <a:moveTo>
                    <a:pt x="0" y="765810"/>
                  </a:moveTo>
                  <a:cubicBezTo>
                    <a:pt x="0" y="342900"/>
                    <a:pt x="342900" y="0"/>
                    <a:pt x="765810" y="0"/>
                  </a:cubicBezTo>
                  <a:lnTo>
                    <a:pt x="5567553" y="0"/>
                  </a:lnTo>
                  <a:cubicBezTo>
                    <a:pt x="5990463" y="0"/>
                    <a:pt x="6333363" y="342900"/>
                    <a:pt x="6333363" y="765810"/>
                  </a:cubicBezTo>
                  <a:lnTo>
                    <a:pt x="6333363" y="3828796"/>
                  </a:lnTo>
                  <a:cubicBezTo>
                    <a:pt x="6333363" y="4251706"/>
                    <a:pt x="5990463" y="4594606"/>
                    <a:pt x="5567553" y="4594606"/>
                  </a:cubicBezTo>
                  <a:lnTo>
                    <a:pt x="765810" y="4594606"/>
                  </a:lnTo>
                  <a:cubicBezTo>
                    <a:pt x="342900" y="4594606"/>
                    <a:pt x="0" y="4251706"/>
                    <a:pt x="0" y="3828796"/>
                  </a:cubicBezTo>
                  <a:close/>
                </a:path>
              </a:pathLst>
            </a:custGeom>
            <a:solidFill>
              <a:srgbClr val="1A2337"/>
            </a:solidFill>
            <a:ln w="14299" cap="sq">
              <a:solidFill>
                <a:srgbClr val="32415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457165" y="3724485"/>
            <a:ext cx="4044953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AFBFF"/>
                </a:solidFill>
                <a:latin typeface="Aptos Bold"/>
                <a:ea typeface="Aptos Bold"/>
                <a:cs typeface="Aptos Bold"/>
                <a:sym typeface="Aptos Bold"/>
              </a:rPr>
              <a:t>Observable AI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57165" y="4438269"/>
            <a:ext cx="3935139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D6DDEB"/>
                </a:solidFill>
                <a:latin typeface="Aptos"/>
                <a:ea typeface="Aptos"/>
                <a:cs typeface="Aptos"/>
                <a:sym typeface="Aptos"/>
              </a:rPr>
              <a:t>Students can see agent activity, proposed changes, and reasons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937955"/>
            <a:ext cx="5994149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FUTURE 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1349759"/>
            <a:ext cx="11073032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StudyFlow AI can grow into a truly personalized academic operating system.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96886" y="2738199"/>
            <a:ext cx="5230454" cy="2622375"/>
            <a:chOff x="0" y="0"/>
            <a:chExt cx="6973938" cy="3496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3951" cy="3496564"/>
            </a:xfrm>
            <a:custGeom>
              <a:avLst/>
              <a:gdLst/>
              <a:ahLst/>
              <a:cxnLst/>
              <a:rect r="r" b="b" t="t" l="l"/>
              <a:pathLst>
                <a:path h="3496564" w="6973951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391148" y="0"/>
                  </a:lnTo>
                  <a:cubicBezTo>
                    <a:pt x="6712966" y="0"/>
                    <a:pt x="6973951" y="260858"/>
                    <a:pt x="6973951" y="582803"/>
                  </a:cubicBezTo>
                  <a:lnTo>
                    <a:pt x="6973951" y="2913761"/>
                  </a:lnTo>
                  <a:cubicBezTo>
                    <a:pt x="6973951" y="3235579"/>
                    <a:pt x="6713093" y="3496564"/>
                    <a:pt x="6391148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42558" y="3010691"/>
            <a:ext cx="453911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Near-term extensions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2558" y="3532308"/>
            <a:ext cx="4539110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Google Calendar sync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Canvas integration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Reminders and notifications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81680" y="2738199"/>
            <a:ext cx="5230454" cy="2622375"/>
            <a:chOff x="0" y="0"/>
            <a:chExt cx="6973938" cy="3496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3951" cy="3496564"/>
            </a:xfrm>
            <a:custGeom>
              <a:avLst/>
              <a:gdLst/>
              <a:ahLst/>
              <a:cxnLst/>
              <a:rect r="r" b="b" t="t" l="l"/>
              <a:pathLst>
                <a:path h="3496564" w="6973951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391148" y="0"/>
                  </a:lnTo>
                  <a:cubicBezTo>
                    <a:pt x="6712966" y="0"/>
                    <a:pt x="6973951" y="260858"/>
                    <a:pt x="6973951" y="582803"/>
                  </a:cubicBezTo>
                  <a:lnTo>
                    <a:pt x="6973951" y="2913761"/>
                  </a:lnTo>
                  <a:cubicBezTo>
                    <a:pt x="6973951" y="3235579"/>
                    <a:pt x="6713093" y="3496564"/>
                    <a:pt x="6391148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927352" y="3010691"/>
            <a:ext cx="453911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Smarter personalization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27352" y="3532308"/>
            <a:ext cx="4539110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Preferred study times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Task-duration learning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Adaptive workload balancing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866464" y="2738199"/>
            <a:ext cx="5093189" cy="2622375"/>
            <a:chOff x="0" y="0"/>
            <a:chExt cx="6790919" cy="3496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0944" cy="3496564"/>
            </a:xfrm>
            <a:custGeom>
              <a:avLst/>
              <a:gdLst/>
              <a:ahLst/>
              <a:cxnLst/>
              <a:rect r="r" b="b" t="t" l="l"/>
              <a:pathLst>
                <a:path h="3496564" w="6790944">
                  <a:moveTo>
                    <a:pt x="0" y="582803"/>
                  </a:moveTo>
                  <a:cubicBezTo>
                    <a:pt x="0" y="260858"/>
                    <a:pt x="260858" y="0"/>
                    <a:pt x="582803" y="0"/>
                  </a:cubicBezTo>
                  <a:lnTo>
                    <a:pt x="6208141" y="0"/>
                  </a:lnTo>
                  <a:cubicBezTo>
                    <a:pt x="6529959" y="0"/>
                    <a:pt x="6790944" y="260858"/>
                    <a:pt x="6790944" y="582803"/>
                  </a:cubicBezTo>
                  <a:lnTo>
                    <a:pt x="6790944" y="2913761"/>
                  </a:lnTo>
                  <a:cubicBezTo>
                    <a:pt x="6790944" y="3235579"/>
                    <a:pt x="6530086" y="3496564"/>
                    <a:pt x="6208141" y="3496564"/>
                  </a:cubicBezTo>
                  <a:lnTo>
                    <a:pt x="582803" y="3496564"/>
                  </a:lnTo>
                  <a:cubicBezTo>
                    <a:pt x="260858" y="3496564"/>
                    <a:pt x="0" y="3235579"/>
                    <a:pt x="0" y="2913761"/>
                  </a:cubicBezTo>
                  <a:close/>
                </a:path>
              </a:pathLst>
            </a:custGeom>
            <a:solidFill>
              <a:srgbClr val="F7F8FC"/>
            </a:solidFill>
            <a:ln w="14299" cap="sq">
              <a:solidFill>
                <a:srgbClr val="DCE3E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212136" y="3010691"/>
            <a:ext cx="4401845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Longer-term direction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12136" y="3532308"/>
            <a:ext cx="4401845" cy="162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Performance insights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Semester planning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More advanced student support agents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4116" y="7114984"/>
            <a:ext cx="15053786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Vision: help students spend less time planning and more time actually learning.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577" y="2516534"/>
            <a:ext cx="5307806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D72FF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2987440"/>
            <a:ext cx="7366816" cy="101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101828"/>
                </a:solidFill>
                <a:latin typeface="Aptos Bold"/>
                <a:ea typeface="Aptos Bold"/>
                <a:cs typeface="Aptos Bold"/>
                <a:sym typeface="Aptos Bold"/>
              </a:rPr>
              <a:t>StudyFlow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9577" y="4232367"/>
            <a:ext cx="393513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Questions?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9577" y="5193240"/>
            <a:ext cx="6405944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Helping students turn deadlines into realistic action.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34176" y="1921745"/>
            <a:ext cx="7275166" cy="4850111"/>
            <a:chOff x="0" y="0"/>
            <a:chExt cx="9700222" cy="6466815"/>
          </a:xfrm>
        </p:grpSpPr>
        <p:sp>
          <p:nvSpPr>
            <p:cNvPr name="Freeform 13" id="13" descr="a_wide_clean_modern_ui_dashboard_mockup_in_a_lig.png"/>
            <p:cNvSpPr/>
            <p:nvPr/>
          </p:nvSpPr>
          <p:spPr>
            <a:xfrm flipH="false" flipV="false" rot="0">
              <a:off x="0" y="0"/>
              <a:ext cx="9700260" cy="6466840"/>
            </a:xfrm>
            <a:custGeom>
              <a:avLst/>
              <a:gdLst/>
              <a:ahLst/>
              <a:cxnLst/>
              <a:rect r="r" b="b" t="t" l="l"/>
              <a:pathLst>
                <a:path h="6466840" w="9700260">
                  <a:moveTo>
                    <a:pt x="0" y="0"/>
                  </a:moveTo>
                  <a:lnTo>
                    <a:pt x="9700260" y="0"/>
                  </a:lnTo>
                  <a:lnTo>
                    <a:pt x="9700260" y="6466840"/>
                  </a:lnTo>
                  <a:lnTo>
                    <a:pt x="0" y="6466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89577" y="8762190"/>
            <a:ext cx="6131414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Paul English Applied AI Institute • UMass Boston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4862" y="-686333"/>
            <a:ext cx="4941618" cy="3843480"/>
            <a:chOff x="0" y="0"/>
            <a:chExt cx="6588823" cy="5124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88760" cy="5124704"/>
            </a:xfrm>
            <a:custGeom>
              <a:avLst/>
              <a:gdLst/>
              <a:ahLst/>
              <a:cxnLst/>
              <a:rect r="r" b="b" t="t" l="l"/>
              <a:pathLst>
                <a:path h="5124704" w="6588760">
                  <a:moveTo>
                    <a:pt x="0" y="2562352"/>
                  </a:moveTo>
                  <a:cubicBezTo>
                    <a:pt x="0" y="1147191"/>
                    <a:pt x="1474978" y="0"/>
                    <a:pt x="3294380" y="0"/>
                  </a:cubicBezTo>
                  <a:cubicBezTo>
                    <a:pt x="5113782" y="0"/>
                    <a:pt x="6588760" y="1147191"/>
                    <a:pt x="6588760" y="2562352"/>
                  </a:cubicBezTo>
                  <a:cubicBezTo>
                    <a:pt x="6588760" y="3977513"/>
                    <a:pt x="5113909" y="5124704"/>
                    <a:pt x="3294380" y="5124704"/>
                  </a:cubicBezTo>
                  <a:cubicBezTo>
                    <a:pt x="1474851" y="5124704"/>
                    <a:pt x="0" y="3977513"/>
                    <a:pt x="0" y="2562352"/>
                  </a:cubicBezTo>
                  <a:close/>
                </a:path>
              </a:pathLst>
            </a:custGeom>
            <a:solidFill>
              <a:srgbClr val="F3E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72676" y="7549696"/>
            <a:ext cx="5765225" cy="3019882"/>
            <a:chOff x="0" y="0"/>
            <a:chExt cx="7686967" cy="4026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6929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86929">
                  <a:moveTo>
                    <a:pt x="0" y="2013204"/>
                  </a:moveTo>
                  <a:cubicBezTo>
                    <a:pt x="0" y="901319"/>
                    <a:pt x="1720723" y="0"/>
                    <a:pt x="3843528" y="0"/>
                  </a:cubicBezTo>
                  <a:cubicBezTo>
                    <a:pt x="5966333" y="0"/>
                    <a:pt x="7686929" y="901319"/>
                    <a:pt x="7686929" y="2013204"/>
                  </a:cubicBezTo>
                  <a:cubicBezTo>
                    <a:pt x="7686929" y="3125089"/>
                    <a:pt x="5966206" y="4026535"/>
                    <a:pt x="3843528" y="4026535"/>
                  </a:cubicBezTo>
                  <a:cubicBezTo>
                    <a:pt x="1720850" y="4026535"/>
                    <a:pt x="0" y="3125089"/>
                    <a:pt x="0" y="2013204"/>
                  </a:cubicBezTo>
                  <a:close/>
                </a:path>
              </a:pathLst>
            </a:custGeom>
            <a:solidFill>
              <a:srgbClr val="E8F0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028700"/>
            <a:ext cx="3363849" cy="3274624"/>
            <a:chOff x="0" y="0"/>
            <a:chExt cx="4485132" cy="43661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5170" cy="4366192"/>
            </a:xfrm>
            <a:custGeom>
              <a:avLst/>
              <a:gdLst/>
              <a:ahLst/>
              <a:cxnLst/>
              <a:rect r="r" b="b" t="t" l="l"/>
              <a:pathLst>
                <a:path h="4366192" w="4485170">
                  <a:moveTo>
                    <a:pt x="0" y="0"/>
                  </a:moveTo>
                  <a:lnTo>
                    <a:pt x="4485170" y="0"/>
                  </a:lnTo>
                  <a:lnTo>
                    <a:pt x="4485170" y="4366192"/>
                  </a:lnTo>
                  <a:lnTo>
                    <a:pt x="0" y="436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62" r="0" b="-13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78615" y="1028700"/>
            <a:ext cx="3363849" cy="3274624"/>
            <a:chOff x="0" y="0"/>
            <a:chExt cx="4485132" cy="43661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85170" cy="4366192"/>
            </a:xfrm>
            <a:custGeom>
              <a:avLst/>
              <a:gdLst/>
              <a:ahLst/>
              <a:cxnLst/>
              <a:rect r="r" b="b" t="t" l="l"/>
              <a:pathLst>
                <a:path h="4366192" w="4485170">
                  <a:moveTo>
                    <a:pt x="0" y="0"/>
                  </a:moveTo>
                  <a:lnTo>
                    <a:pt x="4485170" y="0"/>
                  </a:lnTo>
                  <a:lnTo>
                    <a:pt x="4485170" y="4366192"/>
                  </a:lnTo>
                  <a:lnTo>
                    <a:pt x="0" y="436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266" r="0" b="-2728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895451" y="1028700"/>
            <a:ext cx="3363849" cy="3274624"/>
            <a:chOff x="0" y="0"/>
            <a:chExt cx="4485132" cy="43661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5170" cy="4366192"/>
            </a:xfrm>
            <a:custGeom>
              <a:avLst/>
              <a:gdLst/>
              <a:ahLst/>
              <a:cxnLst/>
              <a:rect r="r" b="b" t="t" l="l"/>
              <a:pathLst>
                <a:path h="4366192" w="4485170">
                  <a:moveTo>
                    <a:pt x="0" y="0"/>
                  </a:moveTo>
                  <a:lnTo>
                    <a:pt x="4485170" y="0"/>
                  </a:lnTo>
                  <a:lnTo>
                    <a:pt x="4485170" y="4366192"/>
                  </a:lnTo>
                  <a:lnTo>
                    <a:pt x="0" y="436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607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255284" y="5328414"/>
            <a:ext cx="3363849" cy="3274624"/>
            <a:chOff x="0" y="0"/>
            <a:chExt cx="4485132" cy="43661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85170" cy="4366192"/>
            </a:xfrm>
            <a:custGeom>
              <a:avLst/>
              <a:gdLst/>
              <a:ahLst/>
              <a:cxnLst/>
              <a:rect r="r" b="b" t="t" l="l"/>
              <a:pathLst>
                <a:path h="4366192" w="4485170">
                  <a:moveTo>
                    <a:pt x="0" y="0"/>
                  </a:moveTo>
                  <a:lnTo>
                    <a:pt x="4485170" y="0"/>
                  </a:lnTo>
                  <a:lnTo>
                    <a:pt x="4485170" y="4366192"/>
                  </a:lnTo>
                  <a:lnTo>
                    <a:pt x="0" y="436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30" r="0" b="-6080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25925" y="5328414"/>
            <a:ext cx="3363849" cy="3274624"/>
            <a:chOff x="0" y="0"/>
            <a:chExt cx="4485132" cy="43661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85170" cy="4366192"/>
            </a:xfrm>
            <a:custGeom>
              <a:avLst/>
              <a:gdLst/>
              <a:ahLst/>
              <a:cxnLst/>
              <a:rect r="r" b="b" t="t" l="l"/>
              <a:pathLst>
                <a:path h="4366192" w="4485170">
                  <a:moveTo>
                    <a:pt x="0" y="0"/>
                  </a:moveTo>
                  <a:lnTo>
                    <a:pt x="4485170" y="0"/>
                  </a:lnTo>
                  <a:lnTo>
                    <a:pt x="4485170" y="4366192"/>
                  </a:lnTo>
                  <a:lnTo>
                    <a:pt x="0" y="436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50" r="0" b="-12549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71871" y="9681877"/>
            <a:ext cx="324879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StudyFlow 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38047" y="9681877"/>
            <a:ext cx="915257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15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37209" y="9681877"/>
            <a:ext cx="6131414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Paul English Applied AI Institute • UMass Boston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81152" y="4495800"/>
            <a:ext cx="155086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Sankalp Vaish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45536" y="4571012"/>
            <a:ext cx="339692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Surya Sudhamshu Parvataneni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64960" y="4495800"/>
            <a:ext cx="22248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Sumukh Veeramalla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59172" y="8754837"/>
            <a:ext cx="15560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Rishank Singh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4424" y="8754837"/>
            <a:ext cx="141934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2026">
                <a:solidFill>
                  <a:srgbClr val="475467"/>
                </a:solidFill>
                <a:latin typeface="Aptos"/>
                <a:ea typeface="Aptos"/>
                <a:cs typeface="Aptos"/>
                <a:sym typeface="Aptos"/>
              </a:rPr>
              <a:t>Krish Gopani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95185" y="333375"/>
            <a:ext cx="309763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1"/>
              </a:lnSpc>
              <a:spcBef>
                <a:spcPct val="0"/>
              </a:spcBef>
            </a:pPr>
            <a:r>
              <a:rPr lang="en-US" b="true" sz="2826">
                <a:solidFill>
                  <a:srgbClr val="475467"/>
                </a:solidFill>
                <a:latin typeface="Aptos Bold"/>
                <a:ea typeface="Aptos Bold"/>
                <a:cs typeface="Aptos Bold"/>
                <a:sym typeface="Aptos Bold"/>
              </a:rPr>
              <a:t>Team Kanyarashi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DAHZEbBF6yg</dc:identifier>
  <dcterms:modified xsi:type="dcterms:W3CDTF">2011-08-01T06:04:30Z</dcterms:modified>
  <cp:revision>1</cp:revision>
  <dc:title>StudyFlow AI turns academic responsibilities into an executable weekly plan.</dc:title>
</cp:coreProperties>
</file>